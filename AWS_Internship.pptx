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9" r:id="rId13"/>
    <p:sldId id="270" r:id="rId14"/>
    <p:sldId id="273" r:id="rId15"/>
    <p:sldId id="268" r:id="rId16"/>
    <p:sldId id="272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488C9-DEC3-4B50-AD85-FA976288BDCA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77EEA-8625-42F3-A767-1920435FF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78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77EEA-8625-42F3-A767-1920435FFC4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082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11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0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9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8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0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2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1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7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810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8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8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6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">
            <a:extLst>
              <a:ext uri="{FF2B5EF4-FFF2-40B4-BE49-F238E27FC236}">
                <a16:creationId xmlns:a16="http://schemas.microsoft.com/office/drawing/2014/main" id="{E8AF3653-4933-7232-7549-7EE83EA5BA46}"/>
              </a:ext>
            </a:extLst>
          </p:cNvPr>
          <p:cNvSpPr txBox="1"/>
          <p:nvPr/>
        </p:nvSpPr>
        <p:spPr>
          <a:xfrm>
            <a:off x="1014883" y="1736909"/>
            <a:ext cx="7409180" cy="252633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614680" algn="ctr">
              <a:lnSpc>
                <a:spcPct val="100000"/>
              </a:lnSpc>
              <a:spcBef>
                <a:spcPts val="340"/>
              </a:spcBef>
            </a:pPr>
            <a:r>
              <a:rPr sz="2000" b="1" spc="-55" dirty="0">
                <a:latin typeface="Tahoma" panose="020B0604030504040204"/>
                <a:cs typeface="Tahoma" panose="020B0604030504040204"/>
              </a:rPr>
              <a:t>Department</a:t>
            </a:r>
            <a:r>
              <a:rPr sz="2000" b="1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60" dirty="0">
                <a:latin typeface="Tahoma" panose="020B0604030504040204"/>
                <a:cs typeface="Tahoma" panose="020B0604030504040204"/>
              </a:rPr>
              <a:t>of</a:t>
            </a:r>
            <a:r>
              <a:rPr sz="2000" b="1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70" dirty="0">
                <a:latin typeface="Tahoma" panose="020B0604030504040204"/>
                <a:cs typeface="Tahoma" panose="020B0604030504040204"/>
              </a:rPr>
              <a:t>CSE-</a:t>
            </a:r>
            <a:r>
              <a:rPr sz="2000" b="1" spc="-25" dirty="0">
                <a:latin typeface="Tahoma" panose="020B0604030504040204"/>
                <a:cs typeface="Tahoma" panose="020B0604030504040204"/>
              </a:rPr>
              <a:t>AI</a:t>
            </a:r>
            <a:endParaRPr lang="en-US" sz="2000" b="1" spc="-25" dirty="0">
              <a:latin typeface="Tahoma" panose="020B0604030504040204"/>
              <a:cs typeface="Tahoma" panose="020B0604030504040204"/>
            </a:endParaRPr>
          </a:p>
          <a:p>
            <a:pPr marR="614680" algn="ctr">
              <a:lnSpc>
                <a:spcPct val="100000"/>
              </a:lnSpc>
              <a:spcBef>
                <a:spcPts val="340"/>
              </a:spcBef>
            </a:pPr>
            <a:endParaRPr sz="2000" dirty="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6000" dirty="0">
                <a:latin typeface="Segoe UI" panose="020B0502040204020203"/>
                <a:cs typeface="Segoe UI" panose="020B0502040204020203"/>
              </a:rPr>
              <a:t>AWS</a:t>
            </a:r>
            <a:r>
              <a:rPr sz="6000" spc="-65" dirty="0">
                <a:latin typeface="Segoe UI" panose="020B0502040204020203"/>
                <a:cs typeface="Segoe UI" panose="020B0502040204020203"/>
              </a:rPr>
              <a:t> </a:t>
            </a:r>
            <a:r>
              <a:rPr sz="6000" dirty="0">
                <a:latin typeface="Segoe UI" panose="020B0502040204020203"/>
                <a:cs typeface="Segoe UI" panose="020B0502040204020203"/>
              </a:rPr>
              <a:t>Cloud</a:t>
            </a:r>
            <a:r>
              <a:rPr sz="6000" spc="-60" dirty="0">
                <a:latin typeface="Segoe UI" panose="020B0502040204020203"/>
                <a:cs typeface="Segoe UI" panose="020B0502040204020203"/>
              </a:rPr>
              <a:t> </a:t>
            </a:r>
            <a:r>
              <a:rPr sz="6000" spc="-10" dirty="0">
                <a:latin typeface="Segoe UI" panose="020B0502040204020203"/>
                <a:cs typeface="Segoe UI" panose="020B0502040204020203"/>
              </a:rPr>
              <a:t>Internship</a:t>
            </a:r>
            <a:endParaRPr sz="6000" dirty="0">
              <a:latin typeface="Segoe UI" panose="020B0502040204020203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55"/>
              </a:spcBef>
            </a:pPr>
            <a:r>
              <a:rPr sz="2400" dirty="0">
                <a:latin typeface="Segoe UI" panose="020B0502040204020203"/>
                <a:cs typeface="Segoe UI" panose="020B0502040204020203"/>
              </a:rPr>
              <a:t>Presented</a:t>
            </a:r>
            <a:r>
              <a:rPr sz="2400" spc="-114" dirty="0">
                <a:latin typeface="Segoe UI" panose="020B0502040204020203"/>
                <a:cs typeface="Segoe UI" panose="020B0502040204020203"/>
              </a:rPr>
              <a:t> </a:t>
            </a:r>
            <a:r>
              <a:rPr sz="2400" spc="-25" dirty="0">
                <a:latin typeface="Segoe UI" panose="020B0502040204020203"/>
                <a:cs typeface="Segoe UI" panose="020B0502040204020203"/>
              </a:rPr>
              <a:t>by</a:t>
            </a:r>
            <a:endParaRPr lang="en-US" sz="2400" spc="-25" dirty="0">
              <a:latin typeface="Segoe UI" panose="020B0502040204020203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55"/>
              </a:spcBef>
            </a:pPr>
            <a:endParaRPr sz="2400" dirty="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25B62A94-F7EC-45DB-304D-DD89A22191FF}"/>
              </a:ext>
            </a:extLst>
          </p:cNvPr>
          <p:cNvSpPr txBox="1"/>
          <p:nvPr/>
        </p:nvSpPr>
        <p:spPr>
          <a:xfrm>
            <a:off x="2493162" y="3939588"/>
            <a:ext cx="4452622" cy="479618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US" sz="2400" dirty="0">
                <a:latin typeface="Segoe UI" panose="020B0502040204020203"/>
                <a:cs typeface="Segoe UI" panose="020B0502040204020203"/>
              </a:rPr>
              <a:t>HEMALATHA D       3BR22CA019</a:t>
            </a:r>
            <a:endParaRPr sz="2400" dirty="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18" name="object 5">
            <a:extLst>
              <a:ext uri="{FF2B5EF4-FFF2-40B4-BE49-F238E27FC236}">
                <a16:creationId xmlns:a16="http://schemas.microsoft.com/office/drawing/2014/main" id="{50820EEB-1D7F-4DA6-0DA6-525039C3B0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1302" y="0"/>
            <a:ext cx="1192697" cy="974035"/>
          </a:xfrm>
          <a:prstGeom prst="rect">
            <a:avLst/>
          </a:prstGeom>
        </p:spPr>
      </p:pic>
      <p:pic>
        <p:nvPicPr>
          <p:cNvPr id="19" name="object 6">
            <a:extLst>
              <a:ext uri="{FF2B5EF4-FFF2-40B4-BE49-F238E27FC236}">
                <a16:creationId xmlns:a16="http://schemas.microsoft.com/office/drawing/2014/main" id="{C7B19D3C-381B-D89E-7DD9-579F54E5249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7" y="-19986"/>
            <a:ext cx="1187760" cy="901700"/>
          </a:xfrm>
          <a:prstGeom prst="rect">
            <a:avLst/>
          </a:prstGeom>
        </p:spPr>
      </p:pic>
      <p:sp>
        <p:nvSpPr>
          <p:cNvPr id="20" name="object 7" descr="$PPTXTitle">
            <a:extLst>
              <a:ext uri="{FF2B5EF4-FFF2-40B4-BE49-F238E27FC236}">
                <a16:creationId xmlns:a16="http://schemas.microsoft.com/office/drawing/2014/main" id="{4C321D23-1D07-2726-036A-30EAFBF947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92697" y="40339"/>
            <a:ext cx="770890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25" dirty="0">
                <a:latin typeface="Tahoma" panose="020B0604030504040204"/>
                <a:cs typeface="Tahoma" panose="020B0604030504040204"/>
              </a:rPr>
              <a:t>BALLARI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70" dirty="0">
                <a:latin typeface="Tahoma" panose="020B0604030504040204"/>
                <a:cs typeface="Tahoma" panose="020B0604030504040204"/>
              </a:rPr>
              <a:t>INSTITUTE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TECHNOLOGY</a:t>
            </a:r>
            <a:r>
              <a:rPr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0" dirty="0">
                <a:latin typeface="Tahoma" panose="020B0604030504040204"/>
                <a:cs typeface="Tahoma" panose="020B0604030504040204"/>
              </a:rPr>
              <a:t>&amp;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MANAGEMENT</a:t>
            </a:r>
            <a:endParaRPr sz="24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B1927329-5303-FF9C-DBC1-EF56F5B7C406}"/>
              </a:ext>
            </a:extLst>
          </p:cNvPr>
          <p:cNvSpPr txBox="1"/>
          <p:nvPr/>
        </p:nvSpPr>
        <p:spPr>
          <a:xfrm>
            <a:off x="2167890" y="438274"/>
            <a:ext cx="480822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660" indent="101600" algn="ctr">
              <a:lnSpc>
                <a:spcPct val="115000"/>
              </a:lnSpc>
              <a:spcBef>
                <a:spcPts val="100"/>
              </a:spcBef>
            </a:pPr>
            <a:r>
              <a:rPr sz="1000" b="1" spc="-10" dirty="0">
                <a:latin typeface="Tahoma" panose="020B0604030504040204"/>
                <a:cs typeface="Tahoma" panose="020B0604030504040204"/>
              </a:rPr>
              <a:t>(Recognized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dirty="0">
                <a:latin typeface="Tahoma" panose="020B0604030504040204"/>
                <a:cs typeface="Tahoma" panose="020B0604030504040204"/>
              </a:rPr>
              <a:t>by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Govt.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45" dirty="0">
                <a:latin typeface="Tahoma" panose="020B0604030504040204"/>
                <a:cs typeface="Tahoma" panose="020B0604030504040204"/>
              </a:rPr>
              <a:t>of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25" dirty="0">
                <a:latin typeface="Tahoma" panose="020B0604030504040204"/>
                <a:cs typeface="Tahoma" panose="020B0604030504040204"/>
              </a:rPr>
              <a:t>Karnataka,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dirty="0">
                <a:latin typeface="Tahoma" panose="020B0604030504040204"/>
                <a:cs typeface="Tahoma" panose="020B0604030504040204"/>
              </a:rPr>
              <a:t>approved by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70" dirty="0">
                <a:latin typeface="Tahoma" panose="020B0604030504040204"/>
                <a:cs typeface="Tahoma" panose="020B0604030504040204"/>
              </a:rPr>
              <a:t>AICTE,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25" dirty="0">
                <a:latin typeface="Tahoma" panose="020B0604030504040204"/>
                <a:cs typeface="Tahoma" panose="020B0604030504040204"/>
              </a:rPr>
              <a:t>New</a:t>
            </a:r>
            <a:r>
              <a:rPr sz="10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Delhi </a:t>
            </a:r>
            <a:r>
              <a:rPr sz="1000" b="1" spc="-25" dirty="0">
                <a:latin typeface="Tahoma" panose="020B0604030504040204"/>
                <a:cs typeface="Tahoma" panose="020B0604030504040204"/>
              </a:rPr>
              <a:t>Autonomous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85" dirty="0">
                <a:latin typeface="Tahoma" panose="020B0604030504040204"/>
                <a:cs typeface="Tahoma" panose="020B0604030504040204"/>
              </a:rPr>
              <a:t>Institute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25" dirty="0">
                <a:latin typeface="Tahoma" panose="020B0604030504040204"/>
                <a:cs typeface="Tahoma" panose="020B0604030504040204"/>
              </a:rPr>
              <a:t>under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Visvesvaraya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Technological </a:t>
            </a:r>
            <a:r>
              <a:rPr sz="1000" b="1" spc="-60" dirty="0">
                <a:latin typeface="Tahoma" panose="020B0604030504040204"/>
                <a:cs typeface="Tahoma" panose="020B0604030504040204"/>
              </a:rPr>
              <a:t>University,</a:t>
            </a:r>
            <a:r>
              <a:rPr sz="10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Belagavi)</a:t>
            </a:r>
            <a:endParaRPr sz="1000" dirty="0">
              <a:latin typeface="Tahoma" panose="020B0604030504040204"/>
              <a:cs typeface="Tahoma" panose="020B0604030504040204"/>
            </a:endParaRPr>
          </a:p>
          <a:p>
            <a:pPr marL="1156335" marR="5080" indent="-689610">
              <a:lnSpc>
                <a:spcPct val="115000"/>
              </a:lnSpc>
            </a:pPr>
            <a:r>
              <a:rPr sz="1000" b="1" spc="-20" dirty="0">
                <a:latin typeface="Tahoma" panose="020B0604030504040204"/>
                <a:cs typeface="Tahoma" panose="020B0604030504040204"/>
              </a:rPr>
              <a:t>"Jnana</a:t>
            </a:r>
            <a:r>
              <a:rPr sz="10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35" dirty="0">
                <a:latin typeface="Tahoma" panose="020B0604030504040204"/>
                <a:cs typeface="Tahoma" panose="020B0604030504040204"/>
              </a:rPr>
              <a:t>Gangothri"</a:t>
            </a:r>
            <a:r>
              <a:rPr sz="10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dirty="0">
                <a:latin typeface="Tahoma" panose="020B0604030504040204"/>
                <a:cs typeface="Tahoma" panose="020B0604030504040204"/>
              </a:rPr>
              <a:t>Campus,</a:t>
            </a:r>
            <a:r>
              <a:rPr sz="10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70" dirty="0">
                <a:latin typeface="Tahoma" panose="020B0604030504040204"/>
                <a:cs typeface="Tahoma" panose="020B0604030504040204"/>
              </a:rPr>
              <a:t>No.873/2,</a:t>
            </a:r>
            <a:r>
              <a:rPr sz="10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50" dirty="0">
                <a:latin typeface="Tahoma" panose="020B0604030504040204"/>
                <a:cs typeface="Tahoma" panose="020B0604030504040204"/>
              </a:rPr>
              <a:t>Ballari-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Hosapete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Road,</a:t>
            </a:r>
            <a:r>
              <a:rPr sz="10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Allipura, </a:t>
            </a:r>
            <a:r>
              <a:rPr sz="1000" b="1" spc="-50" dirty="0">
                <a:latin typeface="Tahoma" panose="020B0604030504040204"/>
                <a:cs typeface="Tahoma" panose="020B0604030504040204"/>
              </a:rPr>
              <a:t>Ballari-</a:t>
            </a:r>
            <a:r>
              <a:rPr sz="1000" b="1" spc="-90" dirty="0">
                <a:latin typeface="Tahoma" panose="020B0604030504040204"/>
                <a:cs typeface="Tahoma" panose="020B0604030504040204"/>
              </a:rPr>
              <a:t>583</a:t>
            </a:r>
            <a:r>
              <a:rPr sz="1000" b="1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90" dirty="0">
                <a:latin typeface="Tahoma" panose="020B0604030504040204"/>
                <a:cs typeface="Tahoma" panose="020B0604030504040204"/>
              </a:rPr>
              <a:t>104</a:t>
            </a:r>
            <a:r>
              <a:rPr sz="1000" b="1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30" dirty="0">
                <a:latin typeface="Tahoma" panose="020B0604030504040204"/>
                <a:cs typeface="Tahoma" panose="020B0604030504040204"/>
              </a:rPr>
              <a:t>(Karnataka)</a:t>
            </a:r>
            <a:r>
              <a:rPr sz="1000" b="1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(India)</a:t>
            </a:r>
            <a:endParaRPr sz="1000" dirty="0">
              <a:latin typeface="Tahoma" panose="020B0604030504040204"/>
              <a:cs typeface="Tahoma" panose="020B0604030504040204"/>
            </a:endParaRPr>
          </a:p>
          <a:p>
            <a:pPr marL="779145">
              <a:lnSpc>
                <a:spcPct val="100000"/>
              </a:lnSpc>
              <a:spcBef>
                <a:spcPts val="180"/>
              </a:spcBef>
            </a:pPr>
            <a:r>
              <a:rPr sz="1000" b="1" spc="-85" dirty="0">
                <a:latin typeface="Tahoma" panose="020B0604030504040204"/>
                <a:cs typeface="Tahoma" panose="020B0604030504040204"/>
              </a:rPr>
              <a:t>Ph: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90" dirty="0">
                <a:latin typeface="Tahoma" panose="020B0604030504040204"/>
                <a:cs typeface="Tahoma" panose="020B0604030504040204"/>
              </a:rPr>
              <a:t>08392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50" dirty="0">
                <a:latin typeface="Tahoma" panose="020B0604030504040204"/>
                <a:cs typeface="Tahoma" panose="020B0604030504040204"/>
              </a:rPr>
              <a:t>–</a:t>
            </a:r>
            <a:r>
              <a:rPr sz="10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90" dirty="0">
                <a:latin typeface="Tahoma" panose="020B0604030504040204"/>
                <a:cs typeface="Tahoma" panose="020B0604030504040204"/>
              </a:rPr>
              <a:t>237100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30" dirty="0">
                <a:latin typeface="Tahoma" panose="020B0604030504040204"/>
                <a:cs typeface="Tahoma" panose="020B0604030504040204"/>
              </a:rPr>
              <a:t>/</a:t>
            </a:r>
            <a:r>
              <a:rPr sz="10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85" dirty="0">
                <a:latin typeface="Tahoma" panose="020B0604030504040204"/>
                <a:cs typeface="Tahoma" panose="020B0604030504040204"/>
              </a:rPr>
              <a:t>237190,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50" dirty="0">
                <a:latin typeface="Tahoma" panose="020B0604030504040204"/>
                <a:cs typeface="Tahoma" panose="020B0604030504040204"/>
              </a:rPr>
              <a:t>Fax:</a:t>
            </a:r>
            <a:r>
              <a:rPr sz="10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90" dirty="0">
                <a:latin typeface="Tahoma" panose="020B0604030504040204"/>
                <a:cs typeface="Tahoma" panose="020B0604030504040204"/>
              </a:rPr>
              <a:t>08392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50" dirty="0">
                <a:latin typeface="Tahoma" panose="020B0604030504040204"/>
                <a:cs typeface="Tahoma" panose="020B0604030504040204"/>
              </a:rPr>
              <a:t>–</a:t>
            </a:r>
            <a:r>
              <a:rPr sz="10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000" b="1" spc="-10" dirty="0">
                <a:latin typeface="Tahoma" panose="020B0604030504040204"/>
                <a:cs typeface="Tahoma" panose="020B0604030504040204"/>
              </a:rPr>
              <a:t>237197</a:t>
            </a:r>
            <a:endParaRPr sz="10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212024"/>
            <a:ext cx="6571343" cy="1049235"/>
          </a:xfrm>
        </p:spPr>
        <p:txBody>
          <a:bodyPr/>
          <a:lstStyle/>
          <a:p>
            <a:r>
              <a:rPr dirty="0"/>
              <a:t>Internship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3823"/>
            <a:ext cx="6571343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Learned AWS cloud fundamentals</a:t>
            </a:r>
          </a:p>
          <a:p>
            <a:pPr marL="0" indent="0">
              <a:buNone/>
            </a:pPr>
            <a:r>
              <a:rPr sz="2800" dirty="0"/>
              <a:t>• Hands-on understanding of AWS services</a:t>
            </a:r>
          </a:p>
          <a:p>
            <a:pPr marL="0" indent="0">
              <a:buNone/>
            </a:pPr>
            <a:r>
              <a:rPr sz="2800" dirty="0"/>
              <a:t>• Explored real-world cloud concepts</a:t>
            </a:r>
          </a:p>
          <a:p>
            <a:pPr marL="0" indent="0">
              <a:buNone/>
            </a:pPr>
            <a:r>
              <a:rPr sz="2800" dirty="0"/>
              <a:t>• Prepared for Cloud Practitioner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944249"/>
            <a:ext cx="7601118" cy="4019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Cloud computing delivers servers, storage, databases, networking and software over the internet.</a:t>
            </a:r>
          </a:p>
          <a:p>
            <a:pPr marL="0" indent="0">
              <a:buNone/>
            </a:pPr>
            <a:r>
              <a:rPr sz="2400" b="1" dirty="0"/>
              <a:t>Advantages:</a:t>
            </a:r>
          </a:p>
          <a:p>
            <a:pPr marL="0" indent="0">
              <a:buNone/>
            </a:pPr>
            <a:r>
              <a:rPr sz="2400" dirty="0"/>
              <a:t>• Scalability</a:t>
            </a:r>
          </a:p>
          <a:p>
            <a:pPr marL="0" indent="0">
              <a:buNone/>
            </a:pPr>
            <a:r>
              <a:rPr sz="2400" dirty="0"/>
              <a:t>• Flexibility</a:t>
            </a:r>
          </a:p>
          <a:p>
            <a:pPr marL="0" indent="0">
              <a:buNone/>
            </a:pPr>
            <a:r>
              <a:rPr sz="2400" dirty="0"/>
              <a:t>• Cost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202085"/>
            <a:ext cx="6571343" cy="1049235"/>
          </a:xfrm>
        </p:spPr>
        <p:txBody>
          <a:bodyPr/>
          <a:lstStyle/>
          <a:p>
            <a:r>
              <a:rPr dirty="0"/>
              <a:t>Cloud Service Models</a:t>
            </a:r>
          </a:p>
        </p:txBody>
      </p:sp>
      <p:pic>
        <p:nvPicPr>
          <p:cNvPr id="4" name="Content Placeholder 3" descr="Cloud Service Models (IaaS, PaaS, SaaS) Diagram | David Chou">
            <a:extLst>
              <a:ext uri="{FF2B5EF4-FFF2-40B4-BE49-F238E27FC236}">
                <a16:creationId xmlns:a16="http://schemas.microsoft.com/office/drawing/2014/main" id="{01B69025-1597-BFC9-EFEA-B82BDC91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135" y="1896856"/>
            <a:ext cx="7224051" cy="4035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391654"/>
            <a:ext cx="6571343" cy="1049235"/>
          </a:xfrm>
        </p:spPr>
        <p:txBody>
          <a:bodyPr/>
          <a:lstStyle/>
          <a:p>
            <a:r>
              <a:rPr dirty="0"/>
              <a:t>AWS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Regions – Geographic locations</a:t>
            </a:r>
          </a:p>
          <a:p>
            <a:pPr marL="0" indent="0">
              <a:buNone/>
            </a:pPr>
            <a:r>
              <a:rPr sz="2400" dirty="0"/>
              <a:t>• Availability Zones – Multiple isolated data centers</a:t>
            </a:r>
          </a:p>
          <a:p>
            <a:pPr marL="0" indent="0">
              <a:buNone/>
            </a:pPr>
            <a:r>
              <a:rPr sz="2400" dirty="0"/>
              <a:t>• Edge Locations – Fast content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29137"/>
            <a:ext cx="6571343" cy="1049235"/>
          </a:xfrm>
        </p:spPr>
        <p:txBody>
          <a:bodyPr/>
          <a:lstStyle/>
          <a:p>
            <a:r>
              <a:t>AWS Compute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376462"/>
            <a:ext cx="6571343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EC2 – Virtual machines</a:t>
            </a:r>
          </a:p>
          <a:p>
            <a:pPr marL="0" indent="0">
              <a:buNone/>
            </a:pPr>
            <a:r>
              <a:rPr sz="2400" dirty="0"/>
              <a:t>• Lambda – Serverless execution</a:t>
            </a:r>
          </a:p>
          <a:p>
            <a:pPr marL="0" indent="0">
              <a:buNone/>
            </a:pPr>
            <a:r>
              <a:rPr sz="2400" dirty="0"/>
              <a:t>• Elastic Beanstalk – Easy deployment</a:t>
            </a:r>
          </a:p>
          <a:p>
            <a:pPr marL="0" indent="0">
              <a:buNone/>
            </a:pPr>
            <a:r>
              <a:rPr sz="2400" dirty="0"/>
              <a:t>• Auto Scaling &amp; ELB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72268"/>
            <a:ext cx="6571343" cy="1049235"/>
          </a:xfrm>
        </p:spPr>
        <p:txBody>
          <a:bodyPr/>
          <a:lstStyle/>
          <a:p>
            <a:r>
              <a:rPr dirty="0"/>
              <a:t>AWS Storage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462994"/>
            <a:ext cx="6571343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S3 – Object storage</a:t>
            </a:r>
          </a:p>
          <a:p>
            <a:pPr marL="0" indent="0">
              <a:buNone/>
            </a:pPr>
            <a:r>
              <a:rPr sz="2400" dirty="0"/>
              <a:t>• EBS – Block storage</a:t>
            </a:r>
          </a:p>
          <a:p>
            <a:pPr marL="0" indent="0">
              <a:buNone/>
            </a:pPr>
            <a:r>
              <a:rPr sz="2400" dirty="0"/>
              <a:t>• EFS – Shared file storage</a:t>
            </a:r>
          </a:p>
          <a:p>
            <a:pPr marL="0" indent="0">
              <a:buNone/>
            </a:pPr>
            <a:r>
              <a:rPr sz="2400" dirty="0"/>
              <a:t>• Glacier – Archival and backup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S Storage: Overview, Types &amp; Benefits (S3, EBS, EFS, FSx)">
            <a:extLst>
              <a:ext uri="{FF2B5EF4-FFF2-40B4-BE49-F238E27FC236}">
                <a16:creationId xmlns:a16="http://schemas.microsoft.com/office/drawing/2014/main" id="{C8AD4A75-280B-8124-55BE-7BD23C60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7" y="1133681"/>
            <a:ext cx="8391037" cy="35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60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52390"/>
            <a:ext cx="6571343" cy="1049235"/>
          </a:xfrm>
        </p:spPr>
        <p:txBody>
          <a:bodyPr/>
          <a:lstStyle/>
          <a:p>
            <a:r>
              <a:rPr dirty="0"/>
              <a:t>AWS 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RDS – Managed SQL databases</a:t>
            </a:r>
          </a:p>
          <a:p>
            <a:pPr marL="0" indent="0">
              <a:buNone/>
            </a:pPr>
            <a:r>
              <a:rPr sz="2400" dirty="0"/>
              <a:t>• Aurora – High performance database</a:t>
            </a:r>
          </a:p>
          <a:p>
            <a:pPr marL="0" indent="0">
              <a:buNone/>
            </a:pPr>
            <a:r>
              <a:rPr sz="2400" dirty="0"/>
              <a:t>• DynamoDB – NoSQL database</a:t>
            </a:r>
          </a:p>
          <a:p>
            <a:pPr marL="0" indent="0">
              <a:buNone/>
            </a:pPr>
            <a:r>
              <a:rPr sz="2400" dirty="0"/>
              <a:t>• Redshift – Data warehouse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29137"/>
            <a:ext cx="6571343" cy="1049235"/>
          </a:xfrm>
        </p:spPr>
        <p:txBody>
          <a:bodyPr/>
          <a:lstStyle/>
          <a:p>
            <a:r>
              <a:rPr dirty="0"/>
              <a:t>Networking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VPC and Subnets</a:t>
            </a:r>
          </a:p>
          <a:p>
            <a:pPr marL="0" indent="0">
              <a:buNone/>
            </a:pPr>
            <a:r>
              <a:rPr sz="2400" dirty="0"/>
              <a:t>• Route 53</a:t>
            </a:r>
          </a:p>
          <a:p>
            <a:pPr marL="0" indent="0">
              <a:buNone/>
            </a:pPr>
            <a:r>
              <a:rPr sz="2400" dirty="0"/>
              <a:t>• Security Groups</a:t>
            </a:r>
          </a:p>
          <a:p>
            <a:pPr marL="0" indent="0">
              <a:buNone/>
            </a:pPr>
            <a:r>
              <a:rPr sz="2400" dirty="0"/>
              <a:t>• IAM and MFA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Monitoring and Cost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3830" y="2242378"/>
            <a:ext cx="6571343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CloudWatch</a:t>
            </a:r>
          </a:p>
          <a:p>
            <a:pPr marL="0" indent="0">
              <a:buNone/>
            </a:pPr>
            <a:r>
              <a:rPr sz="2400" dirty="0"/>
              <a:t>• AWS Config</a:t>
            </a:r>
          </a:p>
          <a:p>
            <a:pPr marL="0" indent="0">
              <a:buNone/>
            </a:pPr>
            <a:r>
              <a:rPr sz="2400" dirty="0"/>
              <a:t>• Cost Explorer</a:t>
            </a:r>
          </a:p>
          <a:p>
            <a:pPr marL="0" indent="0">
              <a:buNone/>
            </a:pPr>
            <a:r>
              <a:rPr sz="2400" dirty="0"/>
              <a:t>• AWS Budgets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Well-Architected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399" y="2300795"/>
            <a:ext cx="8641481" cy="4933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AWS Well-Architected Framework helps build secure and efficient applications.</a:t>
            </a:r>
          </a:p>
          <a:p>
            <a:pPr marL="0" indent="0">
              <a:buNone/>
            </a:pPr>
            <a:r>
              <a:rPr sz="2400" dirty="0"/>
              <a:t>Six Pillars:</a:t>
            </a:r>
          </a:p>
          <a:p>
            <a:pPr marL="0" indent="0">
              <a:buNone/>
            </a:pPr>
            <a:r>
              <a:rPr sz="2400" dirty="0"/>
              <a:t>• Operational Excellence</a:t>
            </a:r>
            <a:r>
              <a:rPr lang="en-US" sz="2400" dirty="0"/>
              <a:t>           • Performance Efficiency</a:t>
            </a:r>
            <a:endParaRPr sz="2400" dirty="0"/>
          </a:p>
          <a:p>
            <a:pPr marL="0" indent="0">
              <a:buNone/>
            </a:pPr>
            <a:r>
              <a:rPr sz="2400" dirty="0"/>
              <a:t>• Security</a:t>
            </a:r>
            <a:r>
              <a:rPr lang="en-US" sz="2400" dirty="0"/>
              <a:t>                                 • Cost Optimization</a:t>
            </a:r>
            <a:endParaRPr sz="2400" dirty="0"/>
          </a:p>
          <a:p>
            <a:pPr marL="0" indent="0">
              <a:buNone/>
            </a:pPr>
            <a:r>
              <a:rPr sz="2400" dirty="0"/>
              <a:t>• Reliability</a:t>
            </a:r>
            <a:r>
              <a:rPr lang="en-US" sz="2400" dirty="0"/>
              <a:t>                               • Sustainability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448" y="1263600"/>
            <a:ext cx="6571343" cy="1049235"/>
          </a:xfrm>
        </p:spPr>
        <p:txBody>
          <a:bodyPr/>
          <a:lstStyle/>
          <a:p>
            <a:r>
              <a:rPr dirty="0"/>
              <a:t>High Availability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706" y="203977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b="1" dirty="0"/>
              <a:t>High Availability:</a:t>
            </a:r>
            <a:endParaRPr lang="en-IN" sz="2400" b="1" dirty="0"/>
          </a:p>
          <a:p>
            <a:pPr marL="0" indent="0">
              <a:buNone/>
            </a:pPr>
            <a:r>
              <a:rPr lang="en-IN" sz="2400" dirty="0"/>
              <a:t>• Ensures applications remain available with minimal downtime</a:t>
            </a:r>
          </a:p>
          <a:p>
            <a:pPr marL="0" indent="0">
              <a:buNone/>
            </a:pPr>
            <a:r>
              <a:rPr sz="2400" dirty="0"/>
              <a:t>• Achieved using multiple Availability Zones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b="1" dirty="0"/>
              <a:t>Scalability:</a:t>
            </a:r>
          </a:p>
          <a:p>
            <a:pPr marL="0" indent="0">
              <a:buNone/>
            </a:pPr>
            <a:r>
              <a:rPr sz="2400" dirty="0"/>
              <a:t>• Vertical Scaling → Increase instance capacity</a:t>
            </a:r>
          </a:p>
          <a:p>
            <a:pPr marL="0" indent="0">
              <a:buNone/>
            </a:pPr>
            <a:r>
              <a:rPr sz="2400" dirty="0"/>
              <a:t>• Horizontal Scaling → Add more instances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0E5A5A-F2A8-DD8E-FC7C-E5A9D854F697}"/>
              </a:ext>
            </a:extLst>
          </p:cNvPr>
          <p:cNvSpPr txBox="1"/>
          <p:nvPr/>
        </p:nvSpPr>
        <p:spPr>
          <a:xfrm>
            <a:off x="1211580" y="2228671"/>
            <a:ext cx="4577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AWS Services Used:</a:t>
            </a:r>
          </a:p>
          <a:p>
            <a:pPr marL="0" indent="0">
              <a:buNone/>
            </a:pPr>
            <a:r>
              <a:rPr lang="en-US" sz="2400" dirty="0"/>
              <a:t>• Auto Scaling</a:t>
            </a:r>
          </a:p>
          <a:p>
            <a:pPr marL="0" indent="0">
              <a:buNone/>
            </a:pPr>
            <a:r>
              <a:rPr lang="en-US" sz="2400" dirty="0"/>
              <a:t>• Elastic Load Balancer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4BAAFA-5663-3848-18A3-5E25F2EA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329137"/>
            <a:ext cx="6571343" cy="1049235"/>
          </a:xfrm>
        </p:spPr>
        <p:txBody>
          <a:bodyPr/>
          <a:lstStyle/>
          <a:p>
            <a:r>
              <a:rPr lang="en-IN" dirty="0"/>
              <a:t>High Availability &amp; Scalability</a:t>
            </a:r>
          </a:p>
        </p:txBody>
      </p:sp>
    </p:spTree>
    <p:extLst>
      <p:ext uri="{BB962C8B-B14F-4D97-AF65-F5344CB8AC3E}">
        <p14:creationId xmlns:p14="http://schemas.microsoft.com/office/powerpoint/2010/main" val="1016512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Shared Responsibility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AWS and customers share security responsibilities: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AWS Responsibilities (Security OF the Cloud):</a:t>
            </a:r>
          </a:p>
          <a:p>
            <a:pPr marL="0" indent="0">
              <a:buNone/>
            </a:pPr>
            <a:r>
              <a:rPr sz="2400" dirty="0"/>
              <a:t>• Physical infrastructure security</a:t>
            </a:r>
          </a:p>
          <a:p>
            <a:pPr marL="0" indent="0">
              <a:buNone/>
            </a:pPr>
            <a:r>
              <a:rPr sz="2400" dirty="0"/>
              <a:t>• Hardware maintenance</a:t>
            </a:r>
          </a:p>
          <a:p>
            <a:pPr marL="0" indent="0">
              <a:buNone/>
            </a:pPr>
            <a:r>
              <a:rPr sz="2400" dirty="0"/>
              <a:t>• Network infrastructure</a:t>
            </a:r>
          </a:p>
          <a:p>
            <a:pPr marL="0" indent="0">
              <a:buNone/>
            </a:pPr>
            <a:r>
              <a:rPr sz="2400" dirty="0"/>
              <a:t>•</a:t>
            </a:r>
            <a:r>
              <a:rPr lang="en-US" sz="2400" dirty="0"/>
              <a:t> Data center security</a:t>
            </a: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3445-BFBD-96C7-487A-12EC3E26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876A4-8E84-EC69-C8A5-601B888474C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59510" y="1223645"/>
            <a:ext cx="6572250" cy="34496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Customer Responsibilities (Security IN the Cloud):</a:t>
            </a:r>
          </a:p>
          <a:p>
            <a:pPr marL="0" indent="0">
              <a:buNone/>
            </a:pPr>
            <a:r>
              <a:rPr lang="en-US" sz="2400" dirty="0"/>
              <a:t>• User access management</a:t>
            </a:r>
          </a:p>
          <a:p>
            <a:pPr marL="0" indent="0">
              <a:buNone/>
            </a:pPr>
            <a:r>
              <a:rPr lang="en-US" sz="2400" dirty="0"/>
              <a:t>• Data protection</a:t>
            </a:r>
          </a:p>
          <a:p>
            <a:pPr marL="0" indent="0">
              <a:buNone/>
            </a:pPr>
            <a:r>
              <a:rPr lang="en-US" sz="2400" dirty="0"/>
              <a:t>• Application security</a:t>
            </a:r>
          </a:p>
          <a:p>
            <a:pPr marL="0" indent="0">
              <a:buNone/>
            </a:pPr>
            <a:r>
              <a:rPr lang="en-US" sz="2400" dirty="0"/>
              <a:t>• Operating system updates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8633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and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Understanding cloud architecture</a:t>
            </a:r>
          </a:p>
          <a:p>
            <a:pPr marL="0" indent="0">
              <a:buNone/>
            </a:pPr>
            <a:r>
              <a:rPr sz="2400" dirty="0"/>
              <a:t>• Security awareness</a:t>
            </a:r>
          </a:p>
          <a:p>
            <a:pPr marL="0" indent="0">
              <a:buNone/>
            </a:pPr>
            <a:r>
              <a:rPr sz="2400" dirty="0"/>
              <a:t>• Resource management skills</a:t>
            </a:r>
          </a:p>
          <a:p>
            <a:pPr marL="0" indent="0">
              <a:buNone/>
            </a:pPr>
            <a:r>
              <a:rPr sz="2400" dirty="0"/>
              <a:t>• Problem-solving 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The AWS internship strengthened cloud knowledge and practical understanding of AWS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</TotalTime>
  <Words>432</Words>
  <Application>Microsoft Office PowerPoint</Application>
  <PresentationFormat>On-screen Show (4:3)</PresentationFormat>
  <Paragraphs>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Gill Sans MT</vt:lpstr>
      <vt:lpstr>Segoe UI</vt:lpstr>
      <vt:lpstr>Tahoma</vt:lpstr>
      <vt:lpstr>Gallery</vt:lpstr>
      <vt:lpstr>BALLARI INSTITUTE OF TECHNOLOGY &amp; MANAGEMENT</vt:lpstr>
      <vt:lpstr>Internship Introduction</vt:lpstr>
      <vt:lpstr>Introduction to Cloud Computing</vt:lpstr>
      <vt:lpstr>Cloud Service Models</vt:lpstr>
      <vt:lpstr>AWS Global Infrastructure</vt:lpstr>
      <vt:lpstr>AWS Compute Services</vt:lpstr>
      <vt:lpstr>AWS Storage Services</vt:lpstr>
      <vt:lpstr>PowerPoint Presentation</vt:lpstr>
      <vt:lpstr>AWS Database Services</vt:lpstr>
      <vt:lpstr>Networking and Security</vt:lpstr>
      <vt:lpstr>Monitoring and Cost Control</vt:lpstr>
      <vt:lpstr>AWS Well-Architected Framework</vt:lpstr>
      <vt:lpstr>High Availability &amp; Scalability</vt:lpstr>
      <vt:lpstr>High Availability &amp; Scalability</vt:lpstr>
      <vt:lpstr>AWS Shared Responsibility Model</vt:lpstr>
      <vt:lpstr>PowerPoint Presentation</vt:lpstr>
      <vt:lpstr>Skills and Learning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Hemalatha D</cp:lastModifiedBy>
  <cp:revision>5</cp:revision>
  <dcterms:created xsi:type="dcterms:W3CDTF">2013-01-27T09:14:16Z</dcterms:created>
  <dcterms:modified xsi:type="dcterms:W3CDTF">2026-05-24T14:11:36Z</dcterms:modified>
  <cp:category/>
</cp:coreProperties>
</file>